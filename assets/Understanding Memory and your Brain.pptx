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13.xml" ContentType="application/vnd.openxmlformats-officedocument.theme+xml"/>
  <Override PartName="/ppt/theme/theme30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5.jpeg" ContentType="image/jpeg"/>
  <Override PartName="/ppt/media/image6.jpeg" ContentType="image/jpeg"/>
  <Override PartName="/ppt/media/image9.png" ContentType="image/png"/>
  <Override PartName="/ppt/media/image7.jpeg" ContentType="image/jpeg"/>
  <Override PartName="/ppt/media/image11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</p:sldMasterIdLst>
  <p:sldIdLst>
    <p:sldId id="256" r:id="rId38"/>
    <p:sldId id="257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  <p:sldId id="266" r:id="rId48"/>
    <p:sldId id="267" r:id="rId49"/>
    <p:sldId id="268" r:id="rId5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Relationship Id="rId50" Type="http://schemas.openxmlformats.org/officeDocument/2006/relationships/slide" Target="slides/slide13.xml"/><Relationship Id="rId5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415B37-6AD7-4F35-AD56-923169DC9C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191671-09CC-4752-8191-3D0F88BB3F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E503BFC-9468-47D7-9F0A-5518C52072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1BD72EE-3240-46F2-83A0-A629BD8838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54D4973-370D-489C-B142-143907FEEC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18DAC0F-258C-4EFC-846F-13D6D1FBB6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3ACB147-9CDE-4E52-B1D5-45CD74EC8B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F4489AA-DCBA-4A17-B5D1-1797FD9E00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901B6FD-FED7-471F-AB1D-932C05CEC8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92E5A2E-8E18-4933-B665-FA5D0A13A6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1303FE8-3D19-4308-90BA-0134C963F7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6659F49-2A83-43DE-932C-F6D5C3182E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C65CBF8-2790-4763-897E-B8D820141F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EA89DD09-2283-46F2-973D-563DB2DBF3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8A232A8-4FEE-4D9F-977B-5B0A844B30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50E0BB5A-B6A4-4AA9-BDBA-39589B7F2A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CE9D085F-21E6-4C83-AAE1-44C2E0F2E9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41369D5F-9413-41E0-BB75-225088ADDA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77F3A0F9-B85B-49FB-9881-AB36904948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E7F096CC-FEF5-4AD9-87D3-7DB4E962AA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12120551-4936-4A53-9C75-0B0EB070AC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2A8F0257-C9D4-4FBA-947B-CFE51F15A0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F8183D99-30DF-4BCA-A93D-3ECF01A5A1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5E84F29E-7A94-43C9-BA19-9AD7EE3B26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35B419F7-6DFE-4EF7-BBF8-49A5505839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092FCDD7-8F35-46BB-B5AF-A6A78F5F91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A98E8CE0-A78A-4A2B-AE81-4D2EA43B46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358A1E6E-2DCB-4744-A1A2-06DD4E3DB0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5C420719-8827-44E7-BADB-D0684EA1F3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54D6E662-6835-407E-9B8A-620EFC1965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F852E226-9F2E-47D1-8ED2-D423769700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6AED32EC-5654-405E-84BE-D1F689333C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FA067C50-006F-49EE-BE81-5BA5EB40D8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C1247F4A-7CC8-47FC-9D93-6DD110DCF4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0EE4B80C-20E0-424B-B439-55193A5336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BB0AECFF-5908-4750-A79C-655DF1EE56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2A841B-67CB-4655-AD8D-36FBD6188367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A36428-2164-4BB7-B7F0-BACDA3F28265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A4FB42-EE06-4504-9310-F9573559C15A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220EE2-351F-4DC7-98FB-4075F903611E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C63679-DA73-4618-A02E-AF44D5893638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AABB49F-9A95-4660-8C37-CBB1A7CC5093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79611C-8D06-4422-96C9-27EC0D894334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00610B-0829-4F77-86ED-68F9A1F0344D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42A096-2E35-49F6-A708-94BE447C6628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4825BC-33A4-4BAA-B3FC-E0C4AD77EE20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1F1FC8-6142-452C-A25A-1482477D8E10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801C93-50D8-4F0E-A49A-A9ADB3AEE92C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3732D5-A8F6-4A49-8FAE-2C2A2D555E7D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7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C50562-6138-4E5D-BDC2-2183B7973D2E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3A71CE-2154-4B3E-887F-9F11A5BDBF0D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8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E409DB-FBE4-475F-B095-EA99A9B4EC8C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0B2F6B-9FF6-432D-8E8E-0B05021396C3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D3BD02-8739-409E-9940-ACB6FA219892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58F055-9CE0-4048-8D28-E78B674E9B9D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A92DC3-B217-4D28-A50B-FE0BD3169E04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8F5644-AD58-45DA-93C2-DCA619C17EE9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BA111E-B6F5-4D86-91F7-2FAC3855ABF5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51BDA7-4C33-436B-BF85-967662BF3DB1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6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5BB039-E6B5-47B2-A403-084F914C937D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7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8A1930-9479-4A4B-B108-1EF587DEA5FA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7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DD249B-DAC5-4E18-B20C-E82A50111F90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6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6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7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52EEF9-0148-4A52-8A93-E030ACDB1293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PlaceHolder 8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1975F2-3716-4BF6-BA3D-951C3E7E5BA8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7CF03E-677F-4948-8544-47BD6726FBB6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78204E-BDF1-4874-93B2-FF86D2EE7DF0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005E2D-B5B1-47D3-AF02-7D74E83C85F0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351A67-05DD-4ADB-9EFB-2BE4C20806DC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6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96D0FF-030C-4A6B-BAB6-2FF90F6CFBB9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DE62BD-E680-417F-9460-4C2156B18892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5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AD5537-2544-438E-90B4-983A4A9E3AE6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6D0240-8BA5-40B1-81C7-25319C563275}" type="slidenum">
              <a:rPr b="0" lang="en-GB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PlaceHolder 7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6000" spc="-1" strike="noStrike">
                <a:solidFill>
                  <a:srgbClr val="000000"/>
                </a:solidFill>
                <a:latin typeface="Gill Sans MT"/>
              </a:rPr>
              <a:t>Understanding Memory and your Brain</a:t>
            </a:r>
            <a:endParaRPr b="0" lang="en-GB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56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Gill Sans MT"/>
              </a:rPr>
              <a:t>Grey matter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Your brain is not all grey matter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The grey matter is on the outside 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The grey matter is specialised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A brain scan can show the size of different areas of grey matter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Picture 2" descr="Figure, Gray and White matter. Image courtesy S Bhimji MD] - StatPearls -  NCBI Bookshelf"/>
          <p:cNvPicPr/>
          <p:nvPr/>
        </p:nvPicPr>
        <p:blipFill>
          <a:blip r:embed="rId1"/>
          <a:stretch/>
        </p:blipFill>
        <p:spPr>
          <a:xfrm>
            <a:off x="825480" y="97200"/>
            <a:ext cx="10514160" cy="656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Picture 4" descr=""/>
          <p:cNvPicPr/>
          <p:nvPr/>
        </p:nvPicPr>
        <p:blipFill>
          <a:blip r:embed="rId1"/>
          <a:stretch/>
        </p:blipFill>
        <p:spPr>
          <a:xfrm>
            <a:off x="424800" y="549000"/>
            <a:ext cx="11228760" cy="517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Gill Sans MT"/>
              </a:rPr>
              <a:t>White matter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Areas of grey matter need to talk to each other, they are wired together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The “wiring” is made of long brain cells, and they are coated in fatty tissue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The fatty tissue makes the wiring look white – it is called white matter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143000" y="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White matter is damaged by slow blood flow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Picture 2" descr=""/>
          <p:cNvPicPr/>
          <p:nvPr/>
        </p:nvPicPr>
        <p:blipFill>
          <a:blip r:embed="rId1"/>
          <a:stretch/>
        </p:blipFill>
        <p:spPr>
          <a:xfrm>
            <a:off x="1553040" y="1172160"/>
            <a:ext cx="9084600" cy="568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2" descr="A close up of a logo&#10;&#10;Description automatically generated"/>
          <p:cNvPicPr/>
          <p:nvPr/>
        </p:nvPicPr>
        <p:blipFill>
          <a:blip r:embed="rId1"/>
          <a:stretch/>
        </p:blipFill>
        <p:spPr>
          <a:xfrm>
            <a:off x="1800000" y="80640"/>
            <a:ext cx="9142560" cy="6399360"/>
          </a:xfrm>
          <a:prstGeom prst="rect">
            <a:avLst/>
          </a:prstGeom>
          <a:ln w="0">
            <a:noFill/>
          </a:ln>
        </p:spPr>
      </p:pic>
      <p:pic>
        <p:nvPicPr>
          <p:cNvPr id="295" name="Picture 4" descr="A picture containing food&#10;&#10;Description automatically generated"/>
          <p:cNvPicPr/>
          <p:nvPr/>
        </p:nvPicPr>
        <p:blipFill>
          <a:blip r:embed="rId2"/>
          <a:srcRect l="0" t="20123" r="0" b="22572"/>
          <a:stretch/>
        </p:blipFill>
        <p:spPr>
          <a:xfrm rot="5715000">
            <a:off x="8795160" y="3259440"/>
            <a:ext cx="2983680" cy="2563560"/>
          </a:xfrm>
          <a:prstGeom prst="rect">
            <a:avLst/>
          </a:prstGeom>
          <a:ln w="0">
            <a:noFill/>
          </a:ln>
        </p:spPr>
      </p:pic>
      <p:sp>
        <p:nvSpPr>
          <p:cNvPr id="296" name="TextBox 5"/>
          <p:cNvSpPr/>
          <p:nvPr/>
        </p:nvSpPr>
        <p:spPr>
          <a:xfrm>
            <a:off x="150480" y="261360"/>
            <a:ext cx="32925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Hippocampus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Picture 2" descr="A close up of a logo&#10;&#10;Description automatically generated"/>
          <p:cNvPicPr/>
          <p:nvPr/>
        </p:nvPicPr>
        <p:blipFill>
          <a:blip r:embed="rId1"/>
          <a:stretch/>
        </p:blipFill>
        <p:spPr>
          <a:xfrm>
            <a:off x="1523880" y="0"/>
            <a:ext cx="9142560" cy="6399360"/>
          </a:xfrm>
          <a:prstGeom prst="rect">
            <a:avLst/>
          </a:prstGeom>
          <a:ln w="0">
            <a:noFill/>
          </a:ln>
        </p:spPr>
      </p:pic>
      <p:pic>
        <p:nvPicPr>
          <p:cNvPr id="298" name="Picture 4" descr="A picture containing food&#10;&#10;Description automatically generated"/>
          <p:cNvPicPr/>
          <p:nvPr/>
        </p:nvPicPr>
        <p:blipFill>
          <a:blip r:embed="rId2"/>
          <a:srcRect l="0" t="20123" r="0" b="22572"/>
          <a:stretch/>
        </p:blipFill>
        <p:spPr>
          <a:xfrm rot="5715000">
            <a:off x="8421840" y="3500280"/>
            <a:ext cx="2793960" cy="2400120"/>
          </a:xfrm>
          <a:prstGeom prst="rect">
            <a:avLst/>
          </a:prstGeom>
          <a:ln w="0">
            <a:noFill/>
          </a:ln>
        </p:spPr>
      </p:pic>
      <p:sp>
        <p:nvSpPr>
          <p:cNvPr id="299" name="TextBox 5"/>
          <p:cNvSpPr/>
          <p:nvPr/>
        </p:nvSpPr>
        <p:spPr>
          <a:xfrm>
            <a:off x="150480" y="261360"/>
            <a:ext cx="32925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Hippocampus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Oval 1"/>
          <p:cNvSpPr/>
          <p:nvPr/>
        </p:nvSpPr>
        <p:spPr>
          <a:xfrm>
            <a:off x="5914080" y="4437720"/>
            <a:ext cx="820800" cy="1206720"/>
          </a:xfrm>
          <a:prstGeom prst="ellipse">
            <a:avLst/>
          </a:prstGeom>
          <a:solidFill>
            <a:srgbClr val="23b921">
              <a:alpha val="30000"/>
            </a:srgb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1" name="Oval 6"/>
          <p:cNvSpPr/>
          <p:nvPr/>
        </p:nvSpPr>
        <p:spPr>
          <a:xfrm>
            <a:off x="8647920" y="4437720"/>
            <a:ext cx="820800" cy="1206720"/>
          </a:xfrm>
          <a:prstGeom prst="ellipse">
            <a:avLst/>
          </a:prstGeom>
          <a:solidFill>
            <a:srgbClr val="23b921">
              <a:alpha val="30000"/>
            </a:srgb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2" name="Oval 7"/>
          <p:cNvSpPr/>
          <p:nvPr/>
        </p:nvSpPr>
        <p:spPr>
          <a:xfrm>
            <a:off x="8775000" y="1383120"/>
            <a:ext cx="71280" cy="432720"/>
          </a:xfrm>
          <a:prstGeom prst="ellipse">
            <a:avLst/>
          </a:prstGeom>
          <a:solidFill>
            <a:srgbClr val="23b921">
              <a:alpha val="30000"/>
            </a:srgb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03" name="Picture 2" descr="Chocolate Cake Roll (Swiss Roll) | Sally's Baking Addiction"/>
          <p:cNvPicPr/>
          <p:nvPr/>
        </p:nvPicPr>
        <p:blipFill>
          <a:blip r:embed="rId3"/>
          <a:stretch/>
        </p:blipFill>
        <p:spPr>
          <a:xfrm>
            <a:off x="372960" y="1292040"/>
            <a:ext cx="1423080" cy="2135160"/>
          </a:xfrm>
          <a:prstGeom prst="rect">
            <a:avLst/>
          </a:prstGeom>
          <a:ln w="0">
            <a:noFill/>
          </a:ln>
        </p:spPr>
      </p:pic>
      <p:sp>
        <p:nvSpPr>
          <p:cNvPr id="304" name="Straight Connector 8"/>
          <p:cNvSpPr/>
          <p:nvPr/>
        </p:nvSpPr>
        <p:spPr>
          <a:xfrm flipH="1" flipV="1">
            <a:off x="1797480" y="1698120"/>
            <a:ext cx="2037240" cy="292968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5" name="Straight Connector 10"/>
          <p:cNvSpPr/>
          <p:nvPr/>
        </p:nvSpPr>
        <p:spPr>
          <a:xfrm flipH="1" flipV="1">
            <a:off x="325800" y="3313440"/>
            <a:ext cx="3566520" cy="186228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74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965160" y="851400"/>
            <a:ext cx="5129280" cy="146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pc="-1" strike="noStrike">
                <a:solidFill>
                  <a:srgbClr val="000000"/>
                </a:solidFill>
                <a:latin typeface="Gill Sans MT"/>
              </a:rPr>
              <a:t>What is the job of the hippocampus?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965160" y="2470320"/>
            <a:ext cx="6183360" cy="40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8333" lnSpcReduction="10000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The brain’s filing cabinets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Store new information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Recall previously learned information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Things are stored thematically (like is stored with like)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Freeform: Shape 76"/>
          <p:cNvSpPr/>
          <p:nvPr/>
        </p:nvSpPr>
        <p:spPr>
          <a:xfrm>
            <a:off x="5510520" y="851400"/>
            <a:ext cx="6183360" cy="5153400"/>
          </a:xfrm>
          <a:custGeom>
            <a:avLst/>
            <a:gdLst>
              <a:gd name="textAreaLeft" fmla="*/ 0 w 6183360"/>
              <a:gd name="textAreaRight" fmla="*/ 6184080 w 6183360"/>
              <a:gd name="textAreaTop" fmla="*/ 0 h 5153400"/>
              <a:gd name="textAreaBottom" fmla="*/ 5154120 h 5153400"/>
            </a:gdLst>
            <a:ah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10" name="Picture 6" descr="Silverline Kontrax Filing Cabinets | Free UK Delivery"/>
          <p:cNvPicPr/>
          <p:nvPr/>
        </p:nvPicPr>
        <p:blipFill>
          <a:blip r:embed="rId1"/>
          <a:stretch/>
        </p:blipFill>
        <p:spPr>
          <a:xfrm>
            <a:off x="7535160" y="2268360"/>
            <a:ext cx="3215880" cy="289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The progress of Alzheimer disease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Picture 3" descr=""/>
          <p:cNvPicPr/>
          <p:nvPr/>
        </p:nvPicPr>
        <p:blipFill>
          <a:blip r:embed="rId1"/>
          <a:stretch/>
        </p:blipFill>
        <p:spPr>
          <a:xfrm>
            <a:off x="545760" y="1603800"/>
            <a:ext cx="10806840" cy="4048200"/>
          </a:xfrm>
          <a:prstGeom prst="rect">
            <a:avLst/>
          </a:prstGeom>
          <a:ln w="0">
            <a:noFill/>
          </a:ln>
        </p:spPr>
      </p:pic>
      <p:sp>
        <p:nvSpPr>
          <p:cNvPr id="313" name="Rectangle 2"/>
          <p:cNvSpPr/>
          <p:nvPr/>
        </p:nvSpPr>
        <p:spPr>
          <a:xfrm>
            <a:off x="923760" y="5203440"/>
            <a:ext cx="10028520" cy="5925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Picture 3" descr=""/>
          <p:cNvPicPr/>
          <p:nvPr/>
        </p:nvPicPr>
        <p:blipFill>
          <a:blip r:embed="rId1"/>
          <a:stretch/>
        </p:blipFill>
        <p:spPr>
          <a:xfrm>
            <a:off x="1196280" y="1189080"/>
            <a:ext cx="10001160" cy="441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Gill Sans MT"/>
              </a:rPr>
              <a:t>Hippocampus not the only area affected by AD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838080" y="194940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The first areas affected may show signs – under the microscope – 20 years before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Some areas affecting sleep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Gill Sans MT"/>
              </a:rPr>
              <a:t>Some areas affecting mood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3" descr="A close up of a logo&#10;&#10;Description automatically generated"/>
          <p:cNvPicPr/>
          <p:nvPr/>
        </p:nvPicPr>
        <p:blipFill>
          <a:blip r:embed="rId1"/>
          <a:stretch/>
        </p:blipFill>
        <p:spPr>
          <a:xfrm>
            <a:off x="1598760" y="286560"/>
            <a:ext cx="10056960" cy="7039440"/>
          </a:xfrm>
          <a:prstGeom prst="rect">
            <a:avLst/>
          </a:prstGeom>
          <a:ln w="0">
            <a:noFill/>
          </a:ln>
        </p:spPr>
      </p:pic>
      <p:sp>
        <p:nvSpPr>
          <p:cNvPr id="318" name="TextBox 4"/>
          <p:cNvSpPr/>
          <p:nvPr/>
        </p:nvSpPr>
        <p:spPr>
          <a:xfrm>
            <a:off x="8080200" y="2733840"/>
            <a:ext cx="1286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Pons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traight Arrow Connector 6"/>
          <p:cNvSpPr/>
          <p:nvPr/>
        </p:nvSpPr>
        <p:spPr>
          <a:xfrm>
            <a:off x="5436000" y="1308600"/>
            <a:ext cx="4243320" cy="745200"/>
          </a:xfrm>
          <a:custGeom>
            <a:avLst/>
            <a:gdLst>
              <a:gd name="textAreaLeft" fmla="*/ 0 w 4243320"/>
              <a:gd name="textAreaRight" fmla="*/ 4244040 w 4243320"/>
              <a:gd name="textAreaTop" fmla="*/ 0 h 745200"/>
              <a:gd name="textAreaBottom" fmla="*/ 745920 h 7452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000000"/>
            </a:solidFill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0" name="TextBox 11"/>
          <p:cNvSpPr/>
          <p:nvPr/>
        </p:nvSpPr>
        <p:spPr>
          <a:xfrm>
            <a:off x="1661040" y="646920"/>
            <a:ext cx="496548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Locus Coeruleus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(The blue bit)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1" name="Picture 2" descr="Locus coeruleus - Wikipedia"/>
          <p:cNvPicPr/>
          <p:nvPr/>
        </p:nvPicPr>
        <p:blipFill>
          <a:blip r:embed="rId2"/>
          <a:stretch/>
        </p:blipFill>
        <p:spPr>
          <a:xfrm>
            <a:off x="1554480" y="2017800"/>
            <a:ext cx="4761000" cy="4208760"/>
          </a:xfrm>
          <a:prstGeom prst="rect">
            <a:avLst/>
          </a:prstGeom>
          <a:ln w="0">
            <a:noFill/>
          </a:ln>
        </p:spPr>
      </p:pic>
      <p:sp>
        <p:nvSpPr>
          <p:cNvPr id="322" name="Straight Connector 13"/>
          <p:cNvSpPr/>
          <p:nvPr/>
        </p:nvSpPr>
        <p:spPr>
          <a:xfrm>
            <a:off x="3424320" y="3657600"/>
            <a:ext cx="360" cy="50256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3" name="Straight Connector 15"/>
          <p:cNvSpPr/>
          <p:nvPr/>
        </p:nvSpPr>
        <p:spPr>
          <a:xfrm>
            <a:off x="3627000" y="3667320"/>
            <a:ext cx="360" cy="50256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  <Words>172</Words>
  <Paragraphs>36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2022-03-11T10:54:13Z</dcterms:created>
  <dc:creator>Ross</dc:creator>
  <dc:description/>
  <dc:language>en-GB</dc:language>
  <cp:lastModifiedBy>Ross Dunne</cp:lastModifiedBy>
  <dcterms:modified xsi:type="dcterms:W3CDTF">2026-06-28T09:34:39Z</dcterms:modified>
  <cp:revision>7</cp:revision>
  <dc:subject/>
  <dc:title>Understanding Memory and your Brain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